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857E5C-0910-4898-ACC7-1E5542E78E8B}">
  <a:tblStyle styleId="{67857E5C-0910-4898-ACC7-1E5542E78E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ea40e63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ea40e63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ea40e635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ea40e63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ea40e635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ea40e635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ea40e635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ea40e635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ea40e635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ea40e635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ea40e635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ea40e635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b042f938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b042f93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ee728bcd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ee728bcd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ea40e635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ea40e635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plan development framework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Pranesh Deep Tech Solutions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develop a full </a:t>
            </a:r>
            <a:r>
              <a:rPr lang="en"/>
              <a:t>scale detailed business plan that includes -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Commercialization strategy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Financial forecasts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model evaluation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ROI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Currently, we establish the business plan framework, and note down our expectations.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plan around? (what problems are we solving)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Drone based inspection technologies, that reduce the cost of the customer company.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labour used by industries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Makes for safer inspections (in dangerous environments)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Faster inspections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human error using AI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companies would want these the most?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market observations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Industries will use our services only if they get sufficient ROI.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Theoretically, If </a:t>
            </a:r>
            <a:r>
              <a:rPr lang="en"/>
              <a:t>company</a:t>
            </a:r>
            <a:r>
              <a:rPr lang="en"/>
              <a:t> IRR &gt; Company cost of capital (WACC), it is profitable for them.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However, IRR is often very difficult to calculate for smaller industries (insufficient data). Thus, marketing based off of cash flow improvement and risk reduction is favourable for us at this stage.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24687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 landscape</a:t>
            </a:r>
            <a:endParaRPr/>
          </a:p>
        </p:txBody>
      </p:sp>
      <p:graphicFrame>
        <p:nvGraphicFramePr>
          <p:cNvPr id="79" name="Google Shape;79;p17"/>
          <p:cNvGraphicFramePr/>
          <p:nvPr/>
        </p:nvGraphicFramePr>
        <p:xfrm>
          <a:off x="75650" y="65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{67857E5C-0910-4898-ACC7-1E5542E78E8B}</a:tableStyleId>
              </a:tblPr>
              <a:tblGrid>
                <a:gridCol w="1654600"/>
                <a:gridCol w="1654575"/>
                <a:gridCol w="2123825"/>
                <a:gridCol w="2062050"/>
                <a:gridCol w="1510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Company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Home location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Product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Revenue model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Takeaways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Airotor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India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Drone driven </a:t>
                      </a:r>
                      <a:r>
                        <a:rPr lang="en"/>
                        <a:t>inspections</a:t>
                      </a:r>
                      <a:r>
                        <a:rPr lang="en"/>
                        <a:t>, land surveys, and analytics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DaaS, along with hardware and analytics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Hybrid business models are common and effective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Percepto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Autonomous</a:t>
                      </a:r>
                      <a:r>
                        <a:rPr lang="en"/>
                        <a:t> drone based inspections, and 3D modelling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Subscription + managed service + enterprise contracts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Sell the inspections, not the drones.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Gecko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Industrial asset inspection through robotics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Service, along with analytics using their original software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Focusing</a:t>
                      </a:r>
                      <a:r>
                        <a:rPr lang="en"/>
                        <a:t> on analytics is also a viable option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Cognix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Industrial defect detection through vision systems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Hardware + software licensing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 your system gets integrated into industry, it is difficult to stop using.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Commercialization options</a:t>
            </a:r>
            <a:endParaRPr/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4122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{67857E5C-0910-4898-ACC7-1E5542E78E8B}</a:tableStyleId>
              </a:tblPr>
              <a:tblGrid>
                <a:gridCol w="2105025"/>
                <a:gridCol w="2105025"/>
                <a:gridCol w="2105025"/>
                <a:gridCol w="2105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Product sale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Managed service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Hybrid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Large amount paid at once, allows quicker re-investment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Guaranteed cash flows, and keeps the customer hooked on the product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and guaranteed cash flow, easier scalability, </a:t>
                      </a:r>
                      <a:r>
                        <a:rPr lang="en"/>
                        <a:t>preferred</a:t>
                      </a:r>
                      <a:r>
                        <a:rPr lang="en"/>
                        <a:t> by </a:t>
                      </a:r>
                      <a:r>
                        <a:rPr lang="en"/>
                        <a:t>larger</a:t>
                      </a:r>
                      <a:r>
                        <a:rPr lang="en"/>
                        <a:t> firms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Lesser </a:t>
                      </a:r>
                      <a:r>
                        <a:rPr lang="en"/>
                        <a:t>preferred</a:t>
                      </a:r>
                      <a:r>
                        <a:rPr lang="en"/>
                        <a:t> by companies, since we are leaving management to them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Harder to scale for a smaller startup like ours, cash flows are slower initially.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Harder to control since the efficiency of operation depends on the customer’s usage, and so they need to be properly trained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to financial modelling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Drivers-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Customer growth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Pricing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Service/product mix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Staffing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R&amp;D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Deployment costs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From these we derive the balance sheet, P&amp;L statement, and CF statement.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133275" y="136875"/>
            <a:ext cx="8817300" cy="48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Customer growth -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List all Year 1 clients. Then, model new client additions based on sales capacity. Also apply a churn rate model.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Pricing model -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Split revenue into two streams from the start. Push the client more toward annual contracts from year 3-4 onwards.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Service/model mix -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Divide revenues from each industry. As revenue increases, this becomes increasingly important.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Staffing -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Balance salary and </a:t>
            </a:r>
            <a:r>
              <a:rPr lang="en" sz="1500"/>
              <a:t>benefits</a:t>
            </a:r>
            <a:r>
              <a:rPr lang="en" sz="1500"/>
              <a:t> with extra value added by employees. Multiple fields of work (IT, electrical, etc) have to be managed separately.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33275" y="136875"/>
            <a:ext cx="8817300" cy="48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Research and development</a:t>
            </a:r>
            <a:r>
              <a:rPr b="1" lang="en"/>
              <a:t> -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What you expense (salaries of employees working on core model, cloud compute) and what you capitalize (proprietary software, IP development, etc). Tie R &amp; D with specific time related milestones. The percentage of </a:t>
            </a:r>
            <a:r>
              <a:rPr lang="en" sz="1500"/>
              <a:t>revenue</a:t>
            </a:r>
            <a:r>
              <a:rPr lang="en" sz="1500"/>
              <a:t> it takes up should decline over time.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Deployment costs -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Drone/rover flight time + pilot day rate + travel + cloud processing cost per inspection. Efficient utilization of these resources is necessary for optimal unit economics. Model far edge capex </a:t>
            </a:r>
            <a:r>
              <a:rPr lang="en" sz="1500"/>
              <a:t>separately</a:t>
            </a:r>
            <a:r>
              <a:rPr lang="en" sz="1500"/>
              <a:t>, to prevent confusions in margins.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uncertainties</a:t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Service or product?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Pricing? (price discrimination scheme)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Deployment costs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 to product time frame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Ideal customer preference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